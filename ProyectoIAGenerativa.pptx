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6BFA"/>
    <a:srgbClr val="5D3A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C2483-A9A1-810F-2E26-C07BBDA2F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B23A59-9388-CDF5-CE71-F95F62B3B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47489C-000C-2595-4407-D668762F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47D-2124-45EA-B15C-782A138E007C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B6096C-6599-A2FA-0013-7C59BCF63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60CCE0-7304-268E-78BB-E6BF0CC2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E421-2E5C-4062-9B92-4BA09CE01D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96050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084BC-1CC5-2827-6BA2-F1865DC77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146DB9-4E47-B043-ACC2-3767F87CD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80297F-F89F-08E4-7F39-5F20234CF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47D-2124-45EA-B15C-782A138E007C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65386E-990F-2295-F9AC-0510E869F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C3150C-CDD2-3531-F6C7-DEF3EF05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E421-2E5C-4062-9B92-4BA09CE01D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5144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31ACE-3524-2AA5-E3A9-F108EB1F9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343D09-971C-1BB7-E361-F02E8CD2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90F93C-BB59-0B8F-2497-66364F79D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47D-2124-45EA-B15C-782A138E007C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8516B2-3A1E-D0C3-C1BE-3908C1D4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6BA6D1-5D29-8D2A-EF2C-4FF2BCFC1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E421-2E5C-4062-9B92-4BA09CE01D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17134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0B038-5529-7027-82EC-9C3A6A601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F0E544-60F3-829A-F252-DB2A7C20B4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2424A8-5120-2832-2513-83F845779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1D0014-8390-11B6-BB6D-7602A57E8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47D-2124-45EA-B15C-782A138E007C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EE422C-07A3-89A8-5D4F-0819762E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B60078-BD1E-256A-A37D-57F5C2138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E421-2E5C-4062-9B92-4BA09CE01D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5507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E57E7B-D16E-525D-D5A0-4B8C0D5ED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8DE23E-A27B-834D-5213-C9ED804D6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9CCA86-597C-A0B1-A042-0DE0CC2AA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80FA607-3BCD-00F6-F71B-D1036FCE44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82BD533-7354-79EB-725E-58B6B0417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F4D2D9-7F74-45BA-610B-8961E390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47D-2124-45EA-B15C-782A138E007C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22CA19B-074B-9023-FB43-C01E41C7D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E765EC2-E473-C054-5EA8-65A2C8A64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E421-2E5C-4062-9B92-4BA09CE01D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5596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60ADE4-DEC1-0D1E-1687-EDD2CFD5A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DFF6BE-AAF8-BA32-0EDA-E23834729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47D-2124-45EA-B15C-782A138E007C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35BC87-3593-6117-AFAE-EAA3EDC13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AECD25-9BDE-C75E-251D-DFA40D4B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E421-2E5C-4062-9B92-4BA09CE01D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44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A51B1B0-F8CA-5B08-1C22-7F1091F2A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47D-2124-45EA-B15C-782A138E007C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7A3FB6B-B289-DE54-79EC-AEDB63E4A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04FF79-0F95-50C8-E441-06EEE8F8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E421-2E5C-4062-9B92-4BA09CE01D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430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79E287-F92E-DF99-EBAB-1BA7872A7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F284C1-B20D-7BD6-C2F3-FF29508C8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7EF49F-DE04-028D-2AF7-97DC7AA07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67228A-5806-D617-DF44-94A42D4C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47D-2124-45EA-B15C-782A138E007C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9A24E4-BBFA-9E7B-AD92-1CFFF687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2C25EB-776D-F6C6-616E-D8A415245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E421-2E5C-4062-9B92-4BA09CE01D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3426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1C821-7835-A338-4C79-1CBC83855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73B656C-4AA9-E959-CC48-78FE45CFE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767D7A-4A4C-4C8E-FA9D-E32830214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3361CF-179C-1A7D-1189-5043C5FEA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47D-2124-45EA-B15C-782A138E007C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3D44A6-2C95-F676-9358-1326F4C5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061F41-98DC-1626-42F7-2E4AC0871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E421-2E5C-4062-9B92-4BA09CE01D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09189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1C6A0-B126-4A8E-4536-067FB6119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93D7826-8F2D-BCDD-DDD7-B7F6EB7A4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753700-D397-3CC8-0B91-1CC08A243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47D-2124-45EA-B15C-782A138E007C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4BE19F-CA1B-9675-8FD9-F6E188A94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CDE903-8D0E-5DB1-1E94-D9047844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E421-2E5C-4062-9B92-4BA09CE01D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35819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A392D2-1B3F-BE28-67DE-F69DBA833F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9F0972-3F83-521F-F833-C0CD604D3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9CC786-BC96-2114-5B91-CA5316DEE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247D-2124-45EA-B15C-782A138E007C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D6D3DB-617B-F7F8-AE3A-242604C97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491835-74CE-9CD9-6A8C-D6451AEC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E421-2E5C-4062-9B92-4BA09CE01D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1510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8294E19-E973-7C4D-5D83-94ED00493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85DF5D-5FD6-0CF8-14FE-055237F73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4B3AB7-1DC9-DA8C-DF88-4CE90A7271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CD247D-2124-45EA-B15C-782A138E007C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2C609-F490-3D6B-C4D7-604294394D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6C3AB4-5140-9D19-7BEF-7CB493137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4CE421-2E5C-4062-9B92-4BA09CE01D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4756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lwires.com/meta-unveils-llama-3-the-most-capable-open-source-llm-yet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colab.research.google.com/drive/1JVEVH-L2nx6i_gmFSpZBkulZ5RI-27J4#scrollTo=-h5-DkTCunkZ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192D17D-9B7C-B544-171B-482B54D6F0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805600"/>
            <a:ext cx="12192000" cy="5018782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8883025-673F-4F9E-6D1B-1554C42D6557}"/>
              </a:ext>
            </a:extLst>
          </p:cNvPr>
          <p:cNvSpPr/>
          <p:nvPr/>
        </p:nvSpPr>
        <p:spPr>
          <a:xfrm>
            <a:off x="0" y="0"/>
            <a:ext cx="12192000" cy="1817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11B054-340C-3D84-7885-6D9607C731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69025" y="3099047"/>
            <a:ext cx="9325706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PE" altLang="es-PE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Lanzado por Meta en 2024, Llama 3 representa un salto masivo en eficiencia y rendimiento para modelos que pueden ejecutarse localmente o en la nube.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PE" altLang="es-PE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Evolución desde Llama 1 y 2, y su rol en el ecosistema de código abierto.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142F97F-5CEE-F02D-9CE3-3DF22094E744}"/>
              </a:ext>
            </a:extLst>
          </p:cNvPr>
          <p:cNvSpPr txBox="1"/>
          <p:nvPr/>
        </p:nvSpPr>
        <p:spPr>
          <a:xfrm>
            <a:off x="1181101" y="740704"/>
            <a:ext cx="932570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PE" altLang="es-P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 3: Democratizando el Estado del Arte en </a:t>
            </a:r>
            <a:r>
              <a:rPr kumimoji="0" lang="es-PE" altLang="es-PE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Foundation</a:t>
            </a:r>
            <a:r>
              <a:rPr kumimoji="0" lang="es-PE" altLang="es-P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PE" altLang="es-PE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es-PE" altLang="es-P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E685BE4-9CEB-E00A-BA59-1236B2AF6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101" y="2373959"/>
            <a:ext cx="42173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PE" altLang="es-PE" sz="1800" b="1" dirty="0">
                <a:latin typeface="Arial" panose="020B0604020202020204" pitchFamily="34" charset="0"/>
              </a:rPr>
              <a:t>ALUMNO: Gamarra Garro, Santiago</a:t>
            </a:r>
          </a:p>
        </p:txBody>
      </p:sp>
    </p:spTree>
    <p:extLst>
      <p:ext uri="{BB962C8B-B14F-4D97-AF65-F5344CB8AC3E}">
        <p14:creationId xmlns:p14="http://schemas.microsoft.com/office/powerpoint/2010/main" val="3654958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2D59EB23-27E2-513A-14BC-C7BF4F0FE4E0}"/>
              </a:ext>
            </a:extLst>
          </p:cNvPr>
          <p:cNvSpPr/>
          <p:nvPr/>
        </p:nvSpPr>
        <p:spPr>
          <a:xfrm>
            <a:off x="0" y="0"/>
            <a:ext cx="12192000" cy="8176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E5C9A5-6166-D107-3ABD-FFF1A5C0B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4106"/>
          </a:xfrm>
        </p:spPr>
        <p:txBody>
          <a:bodyPr>
            <a:normAutofit/>
          </a:bodyPr>
          <a:lstStyle/>
          <a:p>
            <a:r>
              <a:rPr lang="es-PE" sz="2800" b="1" dirty="0"/>
              <a:t>Arquitectura y Construcción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492935-7801-5768-24F2-5EDFB83B30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240" y="5249874"/>
            <a:ext cx="4352805" cy="646331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Atención: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Utiliza secuencias de hasta 8,192 tokens.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5D0AC1-9D36-97CC-F215-5F661B050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005" y="1690688"/>
            <a:ext cx="6300754" cy="420272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16025F9-AC5E-1318-FB01-C3C02C69953B}"/>
              </a:ext>
            </a:extLst>
          </p:cNvPr>
          <p:cNvSpPr txBox="1"/>
          <p:nvPr/>
        </p:nvSpPr>
        <p:spPr>
          <a:xfrm>
            <a:off x="838200" y="915628"/>
            <a:ext cx="10152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rgbClr val="586BFA"/>
                </a:solidFill>
                <a:effectLst/>
                <a:latin typeface="Arial" panose="020B0604020202020204" pitchFamily="34" charset="0"/>
              </a:rPr>
              <a:t>Llama 3 utiliza una arquitectura de </a:t>
            </a:r>
            <a:r>
              <a:rPr kumimoji="0" lang="es-PE" altLang="es-PE" sz="1800" b="1" i="0" u="none" strike="noStrike" cap="none" normalizeH="0" baseline="0" dirty="0" err="1">
                <a:ln>
                  <a:noFill/>
                </a:ln>
                <a:solidFill>
                  <a:srgbClr val="586BFA"/>
                </a:solidFill>
                <a:effectLst/>
                <a:latin typeface="Arial" panose="020B0604020202020204" pitchFamily="34" charset="0"/>
              </a:rPr>
              <a:t>Transformer</a:t>
            </a: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rgbClr val="586BFA"/>
                </a:solidFill>
                <a:effectLst/>
                <a:latin typeface="Arial" panose="020B0604020202020204" pitchFamily="34" charset="0"/>
              </a:rPr>
              <a:t> de solo decodificador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rgbClr val="586BFA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PE" altLang="es-PE" sz="1800" b="0" i="1" u="none" strike="noStrike" cap="none" normalizeH="0" baseline="0" dirty="0" err="1">
                <a:ln>
                  <a:noFill/>
                </a:ln>
                <a:solidFill>
                  <a:srgbClr val="586BFA"/>
                </a:solidFill>
                <a:effectLst/>
                <a:latin typeface="Arial" panose="020B0604020202020204" pitchFamily="34" charset="0"/>
              </a:rPr>
              <a:t>decoder-only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rgbClr val="586BFA"/>
                </a:solidFill>
                <a:effectLst/>
                <a:latin typeface="Arial" panose="020B0604020202020204" pitchFamily="34" charset="0"/>
              </a:rPr>
              <a:t>) </a:t>
            </a:r>
            <a:endParaRPr lang="es-PE" dirty="0">
              <a:solidFill>
                <a:srgbClr val="586BFA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50B30BF-5CE9-590C-87EE-B61C1433C834}"/>
              </a:ext>
            </a:extLst>
          </p:cNvPr>
          <p:cNvCxnSpPr/>
          <p:nvPr/>
        </p:nvCxnSpPr>
        <p:spPr>
          <a:xfrm>
            <a:off x="838200" y="1284960"/>
            <a:ext cx="1065355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áfico 13" descr="Mejora continua con relleno sólido">
            <a:extLst>
              <a:ext uri="{FF2B5EF4-FFF2-40B4-BE49-F238E27FC236}">
                <a16:creationId xmlns:a16="http://schemas.microsoft.com/office/drawing/2014/main" id="{D28C290E-9E6D-18C5-020A-225E08EB51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3041" y="1244358"/>
            <a:ext cx="914400" cy="9144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C2140467-3E9D-F845-A845-5AEDB56D1F7F}"/>
              </a:ext>
            </a:extLst>
          </p:cNvPr>
          <p:cNvSpPr txBox="1"/>
          <p:nvPr/>
        </p:nvSpPr>
        <p:spPr>
          <a:xfrm>
            <a:off x="1040423" y="1553007"/>
            <a:ext cx="1000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50" dirty="0"/>
              <a:t>Optimización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54BC840-8DC0-9C5E-330A-B9E8FEC82E1F}"/>
              </a:ext>
            </a:extLst>
          </p:cNvPr>
          <p:cNvSpPr txBox="1"/>
          <p:nvPr/>
        </p:nvSpPr>
        <p:spPr>
          <a:xfrm>
            <a:off x="700241" y="2112590"/>
            <a:ext cx="4352805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Vocabulario: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Ampliado a 128k tokens (usando </a:t>
            </a:r>
            <a:r>
              <a:rPr kumimoji="0" lang="es-PE" altLang="es-PE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Tiktoken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lo que mejora drásticamente la codificación de texto multilingüe.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ECB614-496E-C047-7A1D-5F2035747D25}"/>
              </a:ext>
            </a:extLst>
          </p:cNvPr>
          <p:cNvSpPr txBox="1"/>
          <p:nvPr/>
        </p:nvSpPr>
        <p:spPr>
          <a:xfrm>
            <a:off x="700240" y="3542732"/>
            <a:ext cx="4352805" cy="147732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Grouped</a:t>
            </a: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-Query </a:t>
            </a:r>
            <a:r>
              <a:rPr kumimoji="0" lang="es-PE" altLang="es-PE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</a:t>
            </a: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(GQA):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Implementado en todos los tamaños (8B y 70B) para mejorar la eficiencia de la inferencia y reducir el uso de memoria KV-cache.</a:t>
            </a:r>
          </a:p>
        </p:txBody>
      </p:sp>
    </p:spTree>
    <p:extLst>
      <p:ext uri="{BB962C8B-B14F-4D97-AF65-F5344CB8AC3E}">
        <p14:creationId xmlns:p14="http://schemas.microsoft.com/office/powerpoint/2010/main" val="2304202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2C17DC05-399C-7D79-8BFD-6261D9923ECF}"/>
              </a:ext>
            </a:extLst>
          </p:cNvPr>
          <p:cNvSpPr/>
          <p:nvPr/>
        </p:nvSpPr>
        <p:spPr>
          <a:xfrm>
            <a:off x="0" y="0"/>
            <a:ext cx="12192000" cy="8176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511DF3-8902-5A74-47A9-1BFD80FEE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7198"/>
          </a:xfrm>
        </p:spPr>
        <p:txBody>
          <a:bodyPr>
            <a:normAutofit/>
          </a:bodyPr>
          <a:lstStyle/>
          <a:p>
            <a:r>
              <a:rPr lang="es-PE" sz="2800" b="1" dirty="0"/>
              <a:t>Entrenamiento a Escala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5088167-AB1C-AE2B-22D9-B10C3E61B1F8}"/>
              </a:ext>
            </a:extLst>
          </p:cNvPr>
          <p:cNvSpPr txBox="1"/>
          <p:nvPr/>
        </p:nvSpPr>
        <p:spPr>
          <a:xfrm>
            <a:off x="838200" y="924421"/>
            <a:ext cx="9607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rgbClr val="586BFA"/>
                </a:solidFill>
                <a:effectLst/>
                <a:latin typeface="Google Sans Text"/>
              </a:rPr>
              <a:t>El "secreto" de Llama 3 no es solo la arquitectura, sino la </a:t>
            </a: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rgbClr val="586BFA"/>
                </a:solidFill>
                <a:effectLst/>
                <a:latin typeface="Google Sans Text"/>
              </a:rPr>
              <a:t>calidad y cantidad de datos</a:t>
            </a:r>
            <a:endParaRPr lang="es-PE" dirty="0">
              <a:solidFill>
                <a:srgbClr val="586BFA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44232E-567F-EC95-AD4A-3884B91A4C2A}"/>
              </a:ext>
            </a:extLst>
          </p:cNvPr>
          <p:cNvSpPr txBox="1"/>
          <p:nvPr/>
        </p:nvSpPr>
        <p:spPr>
          <a:xfrm>
            <a:off x="2936631" y="2008008"/>
            <a:ext cx="774529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Entrenado con más de 15 billones de tokens, 7 veces más que Llama 2.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A7A3924-977F-2647-DD3F-CFA9D53E0888}"/>
              </a:ext>
            </a:extLst>
          </p:cNvPr>
          <p:cNvSpPr txBox="1"/>
          <p:nvPr/>
        </p:nvSpPr>
        <p:spPr>
          <a:xfrm>
            <a:off x="2936631" y="2801085"/>
            <a:ext cx="774529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Meta utilizó </a:t>
            </a:r>
            <a:r>
              <a:rPr kumimoji="0" lang="es-PE" altLang="es-P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clusters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 hasta 16,000 </a:t>
            </a:r>
            <a:r>
              <a:rPr kumimoji="0" lang="es-PE" altLang="es-P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GPUs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NVIDIA H100.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F5300BF-A3D2-EFB4-BCD9-642E7832DD27}"/>
              </a:ext>
            </a:extLst>
          </p:cNvPr>
          <p:cNvSpPr txBox="1"/>
          <p:nvPr/>
        </p:nvSpPr>
        <p:spPr>
          <a:xfrm>
            <a:off x="2936631" y="3594162"/>
            <a:ext cx="774529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PE" altLang="es-PE" sz="1800" dirty="0">
                <a:latin typeface="Google Sans Text"/>
              </a:rPr>
              <a:t>1.3millones de horas de GPU.</a:t>
            </a: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1E31B8A-2498-0FC6-501D-F3D94E1C5061}"/>
              </a:ext>
            </a:extLst>
          </p:cNvPr>
          <p:cNvSpPr txBox="1"/>
          <p:nvPr/>
        </p:nvSpPr>
        <p:spPr>
          <a:xfrm>
            <a:off x="2936631" y="4371828"/>
            <a:ext cx="7745290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 enfatizó el filtrado de datos mediante clasificadores heurísticos y modelos de lenguaje para asegurar la calidad antes del </a:t>
            </a:r>
            <a:r>
              <a:rPr kumimoji="0" lang="es-PE" altLang="es-P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pre-entrenamiento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F0A861B-5B07-AF3A-2B04-8155F6A30B06}"/>
              </a:ext>
            </a:extLst>
          </p:cNvPr>
          <p:cNvSpPr txBox="1"/>
          <p:nvPr/>
        </p:nvSpPr>
        <p:spPr>
          <a:xfrm>
            <a:off x="1510079" y="2008008"/>
            <a:ext cx="1303459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Dataset</a:t>
            </a:r>
            <a:endParaRPr lang="es-PE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06DA54C-1A55-3F0F-578B-67831C0BFB23}"/>
              </a:ext>
            </a:extLst>
          </p:cNvPr>
          <p:cNvSpPr txBox="1"/>
          <p:nvPr/>
        </p:nvSpPr>
        <p:spPr>
          <a:xfrm>
            <a:off x="1510079" y="2801085"/>
            <a:ext cx="1303459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Hardware</a:t>
            </a:r>
            <a:endParaRPr lang="es-PE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745AE68-C0F7-E035-5ECD-DEEA26A8F93F}"/>
              </a:ext>
            </a:extLst>
          </p:cNvPr>
          <p:cNvSpPr txBox="1"/>
          <p:nvPr/>
        </p:nvSpPr>
        <p:spPr>
          <a:xfrm>
            <a:off x="1510079" y="3594162"/>
            <a:ext cx="1303459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PE" altLang="es-PE" sz="1800" b="1" dirty="0">
                <a:latin typeface="Google Sans Text"/>
              </a:rPr>
              <a:t>Tiempo</a:t>
            </a:r>
            <a:endParaRPr lang="es-PE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AAD95A2-67C3-CFE4-6734-94A6F9D21A15}"/>
              </a:ext>
            </a:extLst>
          </p:cNvPr>
          <p:cNvSpPr txBox="1"/>
          <p:nvPr/>
        </p:nvSpPr>
        <p:spPr>
          <a:xfrm>
            <a:off x="1510079" y="4510328"/>
            <a:ext cx="1303459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Proceso</a:t>
            </a:r>
            <a:endParaRPr lang="es-PE" dirty="0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9370D35-0291-5F42-8699-E2755F7DF5E7}"/>
              </a:ext>
            </a:extLst>
          </p:cNvPr>
          <p:cNvCxnSpPr/>
          <p:nvPr/>
        </p:nvCxnSpPr>
        <p:spPr>
          <a:xfrm>
            <a:off x="838200" y="1284960"/>
            <a:ext cx="1065355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513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3DC6459-FC67-066F-4368-55902411C6DC}"/>
              </a:ext>
            </a:extLst>
          </p:cNvPr>
          <p:cNvSpPr/>
          <p:nvPr/>
        </p:nvSpPr>
        <p:spPr>
          <a:xfrm>
            <a:off x="0" y="0"/>
            <a:ext cx="12192000" cy="8176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20D8F7-E939-CD9B-D29D-FD2B6F362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873"/>
            <a:ext cx="10515600" cy="481786"/>
          </a:xfrm>
        </p:spPr>
        <p:txBody>
          <a:bodyPr>
            <a:normAutofit/>
          </a:bodyPr>
          <a:lstStyle/>
          <a:p>
            <a:r>
              <a:rPr lang="es-PE" sz="2800" b="1" dirty="0"/>
              <a:t>Adaptación (SFT y RLHF)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7D8BDB-552B-C155-B7EE-BC1553B214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37909" y="2492429"/>
            <a:ext cx="2965571" cy="20313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modelo se adapta fácilmente mediante librerías como </a:t>
            </a:r>
            <a:r>
              <a:rPr lang="es-PE" altLang="es-PE" sz="1800" dirty="0" err="1">
                <a:latin typeface="Arial" panose="020B0604020202020204" pitchFamily="34" charset="0"/>
              </a:rPr>
              <a:t>trl</a:t>
            </a:r>
            <a:r>
              <a:rPr lang="es-PE" altLang="es-PE" sz="1800" dirty="0">
                <a:latin typeface="Arial" panose="020B0604020202020204" pitchFamily="34" charset="0"/>
              </a:rPr>
              <a:t> y </a:t>
            </a:r>
            <a:r>
              <a:rPr lang="es-PE" altLang="es-PE" sz="1800" dirty="0" err="1">
                <a:latin typeface="Arial" panose="020B0604020202020204" pitchFamily="34" charset="0"/>
              </a:rPr>
              <a:t>peft</a:t>
            </a:r>
            <a:r>
              <a:rPr lang="es-PE" altLang="es-PE" sz="1800" dirty="0">
                <a:latin typeface="Arial" panose="020B0604020202020204" pitchFamily="34" charset="0"/>
              </a:rPr>
              <a:t> (usando técnicas como </a:t>
            </a:r>
            <a:r>
              <a:rPr lang="es-PE" altLang="es-PE" sz="1800" dirty="0" err="1">
                <a:latin typeface="Arial" panose="020B0604020202020204" pitchFamily="34" charset="0"/>
              </a:rPr>
              <a:t>LoRA</a:t>
            </a:r>
            <a:r>
              <a:rPr lang="es-PE" altLang="es-PE" sz="1800" dirty="0">
                <a:latin typeface="Arial" panose="020B0604020202020204" pitchFamily="34" charset="0"/>
              </a:rPr>
              <a:t>/</a:t>
            </a:r>
            <a:r>
              <a:rPr lang="es-PE" altLang="es-PE" sz="1800" dirty="0" err="1">
                <a:latin typeface="Arial" panose="020B0604020202020204" pitchFamily="34" charset="0"/>
              </a:rPr>
              <a:t>QLoRA</a:t>
            </a:r>
            <a:r>
              <a:rPr lang="es-PE" altLang="es-PE" sz="1800" dirty="0">
                <a:latin typeface="Arial" panose="020B0604020202020204" pitchFamily="34" charset="0"/>
              </a:rPr>
              <a:t>) para tareas específicas con poco cómputo.</a:t>
            </a: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7A8DCEC-E617-C2E3-0CF5-01A0201AE6EF}"/>
              </a:ext>
            </a:extLst>
          </p:cNvPr>
          <p:cNvSpPr txBox="1"/>
          <p:nvPr/>
        </p:nvSpPr>
        <p:spPr>
          <a:xfrm>
            <a:off x="838200" y="915628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rgbClr val="586BFA"/>
                </a:solidFill>
                <a:effectLst/>
                <a:latin typeface="Arial" panose="020B0604020202020204" pitchFamily="34" charset="0"/>
              </a:rPr>
              <a:t>¿Cómo pasa de ser un modelo base a un asistente útil?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3231641-3DC0-59C3-BE5C-0E4BB6B81152}"/>
              </a:ext>
            </a:extLst>
          </p:cNvPr>
          <p:cNvCxnSpPr/>
          <p:nvPr/>
        </p:nvCxnSpPr>
        <p:spPr>
          <a:xfrm>
            <a:off x="838200" y="1284960"/>
            <a:ext cx="1065355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0A807C4-F14C-669B-7755-7F5E4ECF629A}"/>
              </a:ext>
            </a:extLst>
          </p:cNvPr>
          <p:cNvSpPr txBox="1"/>
          <p:nvPr/>
        </p:nvSpPr>
        <p:spPr>
          <a:xfrm>
            <a:off x="1088520" y="2985555"/>
            <a:ext cx="2965571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Entrenamiento con instrucciones humanas de alta calidad.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5F681D2-0004-3C83-0597-CE8D67B0B9DA}"/>
              </a:ext>
            </a:extLst>
          </p:cNvPr>
          <p:cNvSpPr txBox="1"/>
          <p:nvPr/>
        </p:nvSpPr>
        <p:spPr>
          <a:xfrm>
            <a:off x="4456233" y="2630928"/>
            <a:ext cx="2965572" cy="175432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de </a:t>
            </a:r>
            <a:r>
              <a:rPr kumimoji="0" lang="es-PE" altLang="es-PE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Reinforcement</a:t>
            </a:r>
            <a:r>
              <a:rPr kumimoji="0" lang="es-PE" altLang="es-PE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PE" altLang="es-PE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es-PE" altLang="es-PE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PE" altLang="es-PE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s-PE" altLang="es-PE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Human </a:t>
            </a:r>
            <a:r>
              <a:rPr kumimoji="0" lang="es-PE" altLang="es-PE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s-PE" altLang="es-PE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</a:t>
            </a:r>
            <a:r>
              <a:rPr kumimoji="0" lang="es-PE" altLang="es-PE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Preference</a:t>
            </a:r>
            <a:r>
              <a:rPr kumimoji="0" lang="es-PE" altLang="es-PE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PE" altLang="es-PE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alinear el modelo con la seguridad y la utilidad.</a:t>
            </a:r>
            <a:endParaRPr lang="es-PE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F0921D8-DE92-6F27-AD29-A93B2BE0DCEF}"/>
              </a:ext>
            </a:extLst>
          </p:cNvPr>
          <p:cNvSpPr/>
          <p:nvPr/>
        </p:nvSpPr>
        <p:spPr>
          <a:xfrm>
            <a:off x="1088520" y="1626366"/>
            <a:ext cx="2479431" cy="747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altLang="es-PE" b="1" dirty="0">
                <a:solidFill>
                  <a:schemeClr val="tx1"/>
                </a:solidFill>
                <a:latin typeface="Arial" panose="020B0604020202020204" pitchFamily="34" charset="0"/>
              </a:rPr>
              <a:t>SFT (</a:t>
            </a:r>
            <a:r>
              <a:rPr lang="es-PE" altLang="es-PE" b="1" dirty="0" err="1">
                <a:solidFill>
                  <a:schemeClr val="tx1"/>
                </a:solidFill>
                <a:latin typeface="Arial" panose="020B0604020202020204" pitchFamily="34" charset="0"/>
              </a:rPr>
              <a:t>Supervised</a:t>
            </a:r>
            <a:r>
              <a:rPr lang="es-PE" altLang="es-PE" b="1" dirty="0">
                <a:solidFill>
                  <a:schemeClr val="tx1"/>
                </a:solidFill>
                <a:latin typeface="Arial" panose="020B0604020202020204" pitchFamily="34" charset="0"/>
              </a:rPr>
              <a:t> Fine-</a:t>
            </a:r>
            <a:r>
              <a:rPr lang="es-PE" altLang="es-PE" b="1" dirty="0" err="1">
                <a:solidFill>
                  <a:schemeClr val="tx1"/>
                </a:solidFill>
                <a:latin typeface="Arial" panose="020B0604020202020204" pitchFamily="34" charset="0"/>
              </a:rPr>
              <a:t>Tuning</a:t>
            </a:r>
            <a:r>
              <a:rPr lang="es-PE" altLang="es-PE" b="1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lang="es-PE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F615759-9669-FEEC-6650-BB7E373C79E1}"/>
              </a:ext>
            </a:extLst>
          </p:cNvPr>
          <p:cNvSpPr/>
          <p:nvPr/>
        </p:nvSpPr>
        <p:spPr>
          <a:xfrm>
            <a:off x="4456233" y="1626366"/>
            <a:ext cx="2479431" cy="747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altLang="es-PE" b="1" dirty="0">
                <a:solidFill>
                  <a:schemeClr val="tx1"/>
                </a:solidFill>
                <a:latin typeface="Arial" panose="020B0604020202020204" pitchFamily="34" charset="0"/>
              </a:rPr>
              <a:t>RLHF + DPO</a:t>
            </a:r>
            <a:endParaRPr lang="es-PE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AB280DB-104E-8673-0D19-2A944721A9B9}"/>
              </a:ext>
            </a:extLst>
          </p:cNvPr>
          <p:cNvSpPr/>
          <p:nvPr/>
        </p:nvSpPr>
        <p:spPr>
          <a:xfrm>
            <a:off x="8137909" y="1626366"/>
            <a:ext cx="2965571" cy="747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altLang="es-PE" b="1" dirty="0" err="1">
                <a:solidFill>
                  <a:schemeClr val="tx1"/>
                </a:solidFill>
                <a:latin typeface="Arial" panose="020B0604020202020204" pitchFamily="34" charset="0"/>
              </a:rPr>
              <a:t>Hugging</a:t>
            </a:r>
            <a:r>
              <a:rPr lang="es-PE" altLang="es-PE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s-PE" altLang="es-PE" b="1" dirty="0" err="1">
                <a:solidFill>
                  <a:schemeClr val="tx1"/>
                </a:solidFill>
                <a:latin typeface="Arial" panose="020B0604020202020204" pitchFamily="34" charset="0"/>
              </a:rPr>
              <a:t>Face</a:t>
            </a:r>
            <a:endParaRPr lang="es-PE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38BC7F-F377-CA77-723E-C508DEE64992}"/>
              </a:ext>
            </a:extLst>
          </p:cNvPr>
          <p:cNvSpPr/>
          <p:nvPr/>
        </p:nvSpPr>
        <p:spPr>
          <a:xfrm>
            <a:off x="1088520" y="1626365"/>
            <a:ext cx="2965571" cy="747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altLang="es-PE" b="1" dirty="0">
                <a:solidFill>
                  <a:schemeClr val="tx1"/>
                </a:solidFill>
                <a:latin typeface="Arial" panose="020B0604020202020204" pitchFamily="34" charset="0"/>
              </a:rPr>
              <a:t>SFT (</a:t>
            </a:r>
            <a:r>
              <a:rPr lang="es-PE" altLang="es-PE" b="1" dirty="0" err="1">
                <a:solidFill>
                  <a:schemeClr val="tx1"/>
                </a:solidFill>
                <a:latin typeface="Arial" panose="020B0604020202020204" pitchFamily="34" charset="0"/>
              </a:rPr>
              <a:t>Supervised</a:t>
            </a:r>
            <a:r>
              <a:rPr lang="es-PE" altLang="es-PE" b="1" dirty="0">
                <a:solidFill>
                  <a:schemeClr val="tx1"/>
                </a:solidFill>
                <a:latin typeface="Arial" panose="020B0604020202020204" pitchFamily="34" charset="0"/>
              </a:rPr>
              <a:t> Fine-</a:t>
            </a:r>
            <a:r>
              <a:rPr lang="es-PE" altLang="es-PE" b="1" dirty="0" err="1">
                <a:solidFill>
                  <a:schemeClr val="tx1"/>
                </a:solidFill>
                <a:latin typeface="Arial" panose="020B0604020202020204" pitchFamily="34" charset="0"/>
              </a:rPr>
              <a:t>Tuning</a:t>
            </a:r>
            <a:r>
              <a:rPr lang="es-PE" altLang="es-PE" b="1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lang="es-PE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6CF04DC-60BF-AAD2-FC4F-9DA4485A5642}"/>
              </a:ext>
            </a:extLst>
          </p:cNvPr>
          <p:cNvSpPr/>
          <p:nvPr/>
        </p:nvSpPr>
        <p:spPr>
          <a:xfrm>
            <a:off x="4456233" y="1626365"/>
            <a:ext cx="2965571" cy="7473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altLang="es-PE" b="1" dirty="0">
                <a:solidFill>
                  <a:schemeClr val="tx1"/>
                </a:solidFill>
                <a:latin typeface="Arial" panose="020B0604020202020204" pitchFamily="34" charset="0"/>
              </a:rPr>
              <a:t>RLHF + DPO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18138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D4EDBFC-42BE-BAB4-99B8-F3210B14ADC2}"/>
              </a:ext>
            </a:extLst>
          </p:cNvPr>
          <p:cNvSpPr/>
          <p:nvPr/>
        </p:nvSpPr>
        <p:spPr>
          <a:xfrm>
            <a:off x="0" y="0"/>
            <a:ext cx="12192000" cy="8176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E891E7-0C1B-0EED-5DD0-FE2F3B34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992"/>
            <a:ext cx="10515600" cy="628406"/>
          </a:xfrm>
        </p:spPr>
        <p:txBody>
          <a:bodyPr>
            <a:noAutofit/>
          </a:bodyPr>
          <a:lstStyle/>
          <a:p>
            <a:r>
              <a:rPr lang="es-ES" sz="2800" b="1" dirty="0"/>
              <a:t>Impacto Ambiental y Consumo Energético</a:t>
            </a:r>
            <a:endParaRPr lang="es-PE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A7DE92-6F05-1028-2120-07E2F9632C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51431" y="3433593"/>
            <a:ext cx="3780692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Meta reportó que el entrenamiento de Llama 3 produjo aproximadamente </a:t>
            </a: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2,290 toneladas de CO2 equivalente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4209DB1-B876-8242-21EC-A0471C22A66F}"/>
              </a:ext>
            </a:extLst>
          </p:cNvPr>
          <p:cNvCxnSpPr/>
          <p:nvPr/>
        </p:nvCxnSpPr>
        <p:spPr>
          <a:xfrm>
            <a:off x="838200" y="1284960"/>
            <a:ext cx="1065355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E318E4F8-A534-649D-61F3-5F107BAB9F92}"/>
              </a:ext>
            </a:extLst>
          </p:cNvPr>
          <p:cNvSpPr txBox="1"/>
          <p:nvPr/>
        </p:nvSpPr>
        <p:spPr>
          <a:xfrm>
            <a:off x="759069" y="935398"/>
            <a:ext cx="10732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586BFA"/>
                </a:solidFill>
              </a:rPr>
              <a:t>Meta logró que el impacto neto sea </a:t>
            </a:r>
            <a:r>
              <a:rPr lang="es-ES" b="1" dirty="0">
                <a:solidFill>
                  <a:srgbClr val="586BFA"/>
                </a:solidFill>
              </a:rPr>
              <a:t>0 toneladas</a:t>
            </a:r>
            <a:r>
              <a:rPr lang="es-ES" dirty="0">
                <a:solidFill>
                  <a:srgbClr val="586BFA"/>
                </a:solidFill>
              </a:rPr>
              <a:t> mediante la compra de créditos de energía renovable, aunque el gasto físico de recursos es innegable</a:t>
            </a:r>
            <a:endParaRPr lang="es-PE" dirty="0">
              <a:solidFill>
                <a:srgbClr val="586BFA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E711C12-DC2E-FEF6-A8DC-80A67756D32C}"/>
              </a:ext>
            </a:extLst>
          </p:cNvPr>
          <p:cNvGrpSpPr/>
          <p:nvPr/>
        </p:nvGrpSpPr>
        <p:grpSpPr>
          <a:xfrm>
            <a:off x="2002449" y="1808156"/>
            <a:ext cx="2129936" cy="1249541"/>
            <a:chOff x="2002449" y="1699442"/>
            <a:chExt cx="2129936" cy="1249541"/>
          </a:xfrm>
        </p:grpSpPr>
        <p:pic>
          <p:nvPicPr>
            <p:cNvPr id="10" name="Gráfico 9" descr="Batería descargada con relleno sólido">
              <a:extLst>
                <a:ext uri="{FF2B5EF4-FFF2-40B4-BE49-F238E27FC236}">
                  <a16:creationId xmlns:a16="http://schemas.microsoft.com/office/drawing/2014/main" id="{00E0DA6C-91E5-F60B-AF92-055223468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91153" y="2034583"/>
              <a:ext cx="914400" cy="914400"/>
            </a:xfrm>
            <a:prstGeom prst="rect">
              <a:avLst/>
            </a:prstGeom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9081E9A7-248E-39DC-C496-1C7E05CF4552}"/>
                </a:ext>
              </a:extLst>
            </p:cNvPr>
            <p:cNvSpPr txBox="1"/>
            <p:nvPr/>
          </p:nvSpPr>
          <p:spPr>
            <a:xfrm>
              <a:off x="2002449" y="1699442"/>
              <a:ext cx="21299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s-PE" altLang="es-PE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 Text"/>
                </a:rPr>
                <a:t>Consumo de Energía</a:t>
              </a:r>
              <a:endParaRPr lang="es-PE" dirty="0"/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BE2DE4F2-80B1-16F1-176F-D4C5840B7B25}"/>
              </a:ext>
            </a:extLst>
          </p:cNvPr>
          <p:cNvGrpSpPr/>
          <p:nvPr/>
        </p:nvGrpSpPr>
        <p:grpSpPr>
          <a:xfrm>
            <a:off x="7608276" y="1807875"/>
            <a:ext cx="1910129" cy="1250103"/>
            <a:chOff x="6799384" y="1690956"/>
            <a:chExt cx="1910129" cy="1250103"/>
          </a:xfrm>
        </p:grpSpPr>
        <p:pic>
          <p:nvPicPr>
            <p:cNvPr id="12" name="Gráfico 11" descr="Central de energía contorno">
              <a:extLst>
                <a:ext uri="{FF2B5EF4-FFF2-40B4-BE49-F238E27FC236}">
                  <a16:creationId xmlns:a16="http://schemas.microsoft.com/office/drawing/2014/main" id="{2FD8FC33-ECB9-DA5F-1507-64B51A4C7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97248" y="2026659"/>
              <a:ext cx="914400" cy="914400"/>
            </a:xfrm>
            <a:prstGeom prst="rect">
              <a:avLst/>
            </a:prstGeom>
          </p:spPr>
        </p:pic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BB9F316-2964-FD76-6A61-B7D40E297EBD}"/>
                </a:ext>
              </a:extLst>
            </p:cNvPr>
            <p:cNvSpPr txBox="1"/>
            <p:nvPr/>
          </p:nvSpPr>
          <p:spPr>
            <a:xfrm>
              <a:off x="6799384" y="1690956"/>
              <a:ext cx="19101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s-PE" altLang="es-PE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 Text"/>
                </a:rPr>
                <a:t>Emisiones de CO2</a:t>
              </a:r>
              <a:endParaRPr lang="es-PE" dirty="0"/>
            </a:p>
          </p:txBody>
        </p: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BEAE8EB-1B0D-50A6-463C-E3DDE9657467}"/>
              </a:ext>
            </a:extLst>
          </p:cNvPr>
          <p:cNvSpPr txBox="1"/>
          <p:nvPr/>
        </p:nvSpPr>
        <p:spPr>
          <a:xfrm>
            <a:off x="1784839" y="3429000"/>
            <a:ext cx="35608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El entrenamiento de Llama 3 (específicamente el cluster de 400B que estuvo en proceso) requirió una infraestructura masiva. Se estima que el entrenamiento de la flota Llama 3 consumió cerca de </a:t>
            </a: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400 GWh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9853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EEA786D-018C-F168-D092-7B2F48E2B4DF}"/>
              </a:ext>
            </a:extLst>
          </p:cNvPr>
          <p:cNvSpPr/>
          <p:nvPr/>
        </p:nvSpPr>
        <p:spPr>
          <a:xfrm>
            <a:off x="0" y="0"/>
            <a:ext cx="12192000" cy="8176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5718FF-FE11-8534-8FAB-514B3D3B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6860"/>
          </a:xfrm>
        </p:spPr>
        <p:txBody>
          <a:bodyPr>
            <a:noAutofit/>
          </a:bodyPr>
          <a:lstStyle/>
          <a:p>
            <a:r>
              <a:rPr lang="es-ES" sz="2800" b="1" dirty="0"/>
              <a:t>Fortalezas, Limitaciones</a:t>
            </a:r>
            <a:endParaRPr lang="es-PE" sz="28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93AE9E6-60F3-3B6A-DA69-58EE30F701F7}"/>
              </a:ext>
            </a:extLst>
          </p:cNvPr>
          <p:cNvSpPr txBox="1"/>
          <p:nvPr/>
        </p:nvSpPr>
        <p:spPr>
          <a:xfrm>
            <a:off x="838197" y="931986"/>
            <a:ext cx="10515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rgbClr val="586BFA"/>
                </a:solidFill>
                <a:effectLst/>
                <a:latin typeface="Arial" panose="020B0604020202020204" pitchFamily="34" charset="0"/>
              </a:rPr>
              <a:t>Llama 3 no es "Open </a:t>
            </a:r>
            <a:r>
              <a:rPr kumimoji="0" lang="es-PE" altLang="es-PE" sz="1800" b="0" i="0" u="none" strike="noStrike" cap="none" normalizeH="0" baseline="0" dirty="0" err="1">
                <a:ln>
                  <a:noFill/>
                </a:ln>
                <a:solidFill>
                  <a:srgbClr val="586BFA"/>
                </a:solidFill>
                <a:effectLst/>
                <a:latin typeface="Arial" panose="020B0604020202020204" pitchFamily="34" charset="0"/>
              </a:rPr>
              <a:t>Source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rgbClr val="586BFA"/>
                </a:solidFill>
                <a:effectLst/>
                <a:latin typeface="Arial" panose="020B0604020202020204" pitchFamily="34" charset="0"/>
              </a:rPr>
              <a:t>" en el sentido estricto (por su licencia), pero es el motor de la "</a:t>
            </a:r>
            <a:r>
              <a:rPr kumimoji="0" lang="es-PE" altLang="es-PE" sz="1800" b="0" i="0" u="none" strike="noStrike" cap="none" normalizeH="0" baseline="0" dirty="0" err="1">
                <a:ln>
                  <a:noFill/>
                </a:ln>
                <a:solidFill>
                  <a:srgbClr val="586BFA"/>
                </a:solidFill>
                <a:effectLst/>
                <a:latin typeface="Arial" panose="020B0604020202020204" pitchFamily="34" charset="0"/>
              </a:rPr>
              <a:t>comunalización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rgbClr val="586BFA"/>
                </a:solidFill>
                <a:effectLst/>
                <a:latin typeface="Arial" panose="020B0604020202020204" pitchFamily="34" charset="0"/>
              </a:rPr>
              <a:t>" de la IA.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1D4D5FD-705C-7103-A07E-0F1B41E0382E}"/>
              </a:ext>
            </a:extLst>
          </p:cNvPr>
          <p:cNvCxnSpPr/>
          <p:nvPr/>
        </p:nvCxnSpPr>
        <p:spPr>
          <a:xfrm>
            <a:off x="838200" y="1284960"/>
            <a:ext cx="1065355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4C4662F-2409-1BE7-93B3-68DD4226A83F}"/>
              </a:ext>
            </a:extLst>
          </p:cNvPr>
          <p:cNvSpPr txBox="1"/>
          <p:nvPr/>
        </p:nvSpPr>
        <p:spPr>
          <a:xfrm>
            <a:off x="2607649" y="2136530"/>
            <a:ext cx="4092089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Rendimiento comparable a GPT-4 en </a:t>
            </a:r>
            <a:r>
              <a:rPr kumimoji="0" lang="es-PE" altLang="es-P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benchmarks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razonamiento y código, siendo </a:t>
            </a: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mucho más pequeño y eficiente.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50C40A2-7896-6448-6308-1CA8DA086D40}"/>
              </a:ext>
            </a:extLst>
          </p:cNvPr>
          <p:cNvSpPr txBox="1"/>
          <p:nvPr/>
        </p:nvSpPr>
        <p:spPr>
          <a:xfrm>
            <a:off x="2607649" y="3895072"/>
            <a:ext cx="4092089" cy="147732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Aún </a:t>
            </a: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presenta alucinaciones 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temas factuales complejos y el </a:t>
            </a: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sesgo cultural 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sigue presente debido a la </a:t>
            </a: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predominancia del inglés 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el dataset inicial.</a:t>
            </a:r>
            <a:endParaRPr lang="es-PE" dirty="0"/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164DDAD8-8DEE-AC94-52B4-CA9D44A2D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681" y="2136530"/>
            <a:ext cx="4607884" cy="319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651CE123-3ACA-A436-3D52-7217050B0790}"/>
              </a:ext>
            </a:extLst>
          </p:cNvPr>
          <p:cNvSpPr/>
          <p:nvPr/>
        </p:nvSpPr>
        <p:spPr>
          <a:xfrm>
            <a:off x="838197" y="2136530"/>
            <a:ext cx="1672735" cy="1200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altLang="es-PE" b="1" dirty="0">
                <a:solidFill>
                  <a:schemeClr val="tx1"/>
                </a:solidFill>
                <a:latin typeface="Arial" panose="020B0604020202020204" pitchFamily="34" charset="0"/>
              </a:rPr>
              <a:t>Fortalezas</a:t>
            </a:r>
            <a:endParaRPr lang="es-PE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7E465B6-2F07-A636-4ED6-84495D5E1158}"/>
              </a:ext>
            </a:extLst>
          </p:cNvPr>
          <p:cNvSpPr/>
          <p:nvPr/>
        </p:nvSpPr>
        <p:spPr>
          <a:xfrm>
            <a:off x="827942" y="3895070"/>
            <a:ext cx="1672735" cy="14773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altLang="es-PE" b="1" dirty="0">
                <a:solidFill>
                  <a:schemeClr val="tx1"/>
                </a:solidFill>
                <a:latin typeface="Arial" panose="020B0604020202020204" pitchFamily="34" charset="0"/>
              </a:rPr>
              <a:t>Limitaciones</a:t>
            </a:r>
            <a:endParaRPr lang="es-PE" altLang="es-PE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890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8BA86DE6-AF25-B9B6-D0C1-495022B36393}"/>
              </a:ext>
            </a:extLst>
          </p:cNvPr>
          <p:cNvSpPr/>
          <p:nvPr/>
        </p:nvSpPr>
        <p:spPr>
          <a:xfrm>
            <a:off x="0" y="0"/>
            <a:ext cx="12192000" cy="8176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C35408-984F-C1A6-645C-74069F73A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5313"/>
          </a:xfrm>
        </p:spPr>
        <p:txBody>
          <a:bodyPr>
            <a:normAutofit/>
          </a:bodyPr>
          <a:lstStyle/>
          <a:p>
            <a:r>
              <a:rPr lang="es-PE" sz="2800" b="1" dirty="0"/>
              <a:t>Conclusiones y Referencias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025783-F9D5-5358-8CAF-B15C096A99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0019" y="923109"/>
            <a:ext cx="10515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rgbClr val="586BFA"/>
                </a:solidFill>
                <a:effectLst/>
                <a:latin typeface="Arial" panose="020B0604020202020204" pitchFamily="34" charset="0"/>
              </a:rPr>
              <a:t>Llama 3 demuestra que la escala de los datos de entrenamiento es tan importante como la arquitectura del modelo.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05CC2C5-FF9A-C88F-E991-8C833DC60961}"/>
              </a:ext>
            </a:extLst>
          </p:cNvPr>
          <p:cNvSpPr txBox="1"/>
          <p:nvPr/>
        </p:nvSpPr>
        <p:spPr>
          <a:xfrm>
            <a:off x="838200" y="4954397"/>
            <a:ext cx="103192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200" i="1" dirty="0"/>
              <a:t>https://hasgeek.com/simrathanspal/the-llama3-guide/sub/decoding-llama3-part-1-intro-to-llama3-RCehJkfUH348ryim1x6PLN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A11D967-F27E-025C-2C16-763C4038D5BA}"/>
              </a:ext>
            </a:extLst>
          </p:cNvPr>
          <p:cNvSpPr txBox="1"/>
          <p:nvPr/>
        </p:nvSpPr>
        <p:spPr>
          <a:xfrm>
            <a:off x="838200" y="5167312"/>
            <a:ext cx="60974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200" i="1" dirty="0"/>
              <a:t>https://huggingface.co/meta-llama/Meta-Llama-3-8B-Instruct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96ADB5C-C347-79C4-415B-A8820B28F035}"/>
              </a:ext>
            </a:extLst>
          </p:cNvPr>
          <p:cNvSpPr txBox="1"/>
          <p:nvPr/>
        </p:nvSpPr>
        <p:spPr>
          <a:xfrm>
            <a:off x="838200" y="5444311"/>
            <a:ext cx="60974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200" i="1" dirty="0"/>
              <a:t>https://ollama.com/library/llama3.1:8b</a:t>
            </a:r>
          </a:p>
        </p:txBody>
      </p:sp>
      <p:sp>
        <p:nvSpPr>
          <p:cNvPr id="11" name="Flecha: a la derecha 10">
            <a:hlinkClick r:id="rId2"/>
            <a:extLst>
              <a:ext uri="{FF2B5EF4-FFF2-40B4-BE49-F238E27FC236}">
                <a16:creationId xmlns:a16="http://schemas.microsoft.com/office/drawing/2014/main" id="{5E301D38-92D1-52AA-85DD-878E32A9A9DA}"/>
              </a:ext>
            </a:extLst>
          </p:cNvPr>
          <p:cNvSpPr/>
          <p:nvPr/>
        </p:nvSpPr>
        <p:spPr>
          <a:xfrm>
            <a:off x="1195753" y="2471560"/>
            <a:ext cx="2409093" cy="896816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Demo LLAMA3-8B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08197EF2-9A80-FD66-0CD6-905227564202}"/>
              </a:ext>
            </a:extLst>
          </p:cNvPr>
          <p:cNvCxnSpPr/>
          <p:nvPr/>
        </p:nvCxnSpPr>
        <p:spPr>
          <a:xfrm>
            <a:off x="838200" y="1284960"/>
            <a:ext cx="10653559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n 14">
            <a:extLst>
              <a:ext uri="{FF2B5EF4-FFF2-40B4-BE49-F238E27FC236}">
                <a16:creationId xmlns:a16="http://schemas.microsoft.com/office/drawing/2014/main" id="{E1C7157B-DC95-75DD-D04A-8D7B2F26C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862" y="1593530"/>
            <a:ext cx="6517938" cy="312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79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534</Words>
  <Application>Microsoft Office PowerPoint</Application>
  <PresentationFormat>Panorámica</PresentationFormat>
  <Paragraphs>52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Google Sans Text</vt:lpstr>
      <vt:lpstr>Tema de Office</vt:lpstr>
      <vt:lpstr>Presentación de PowerPoint</vt:lpstr>
      <vt:lpstr>Arquitectura y Construcción</vt:lpstr>
      <vt:lpstr>Entrenamiento a Escala </vt:lpstr>
      <vt:lpstr>Adaptación (SFT y RLHF)</vt:lpstr>
      <vt:lpstr>Impacto Ambiental y Consumo Energético</vt:lpstr>
      <vt:lpstr>Fortalezas, Limitaciones</vt:lpstr>
      <vt:lpstr>Conclusiones y 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Gamarra Garro</dc:creator>
  <cp:lastModifiedBy>Santiago Gamarra Garro</cp:lastModifiedBy>
  <cp:revision>5</cp:revision>
  <dcterms:created xsi:type="dcterms:W3CDTF">2026-03-11T19:29:14Z</dcterms:created>
  <dcterms:modified xsi:type="dcterms:W3CDTF">2026-03-11T22:10:44Z</dcterms:modified>
</cp:coreProperties>
</file>